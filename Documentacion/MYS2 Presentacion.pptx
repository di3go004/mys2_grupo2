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s-GT" sz="1300" b="0" i="0" u="none" strike="noStrike">
                <a:solidFill>
                  <a:srgbClr val="1E2761"/>
                </a:solidFill>
                <a:latin typeface="Calibri"/>
              </a:rPr>
              <a:t>Variación de carga por celda (SA102 vs SA101)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Variación de carga SA102 vs SA101 (%)</c:v>
                </c:pt>
              </c:strCache>
            </c:strRef>
          </c:tx>
          <c:spPr>
            <a:solidFill>
              <a:srgbClr val="F2994A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0242E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Celda 1</c:v>
                </c:pt>
                <c:pt idx="1">
                  <c:v>Celda 2</c:v>
                </c:pt>
                <c:pt idx="2">
                  <c:v>Celda 3</c:v>
                </c:pt>
                <c:pt idx="3">
                  <c:v>Celda 4</c:v>
                </c:pt>
                <c:pt idx="4">
                  <c:v>Celda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-15.35</c:v>
                </c:pt>
                <c:pt idx="1">
                  <c:v>0</c:v>
                </c:pt>
                <c:pt idx="2">
                  <c:v>3.52</c:v>
                </c:pt>
                <c:pt idx="3">
                  <c:v>-9.17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24-4330-8ED5-DA15B611B7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7657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663440"/>
            <a:ext cx="4206240" cy="4206240"/>
          </a:xfrm>
          <a:prstGeom prst="roundRect">
            <a:avLst>
              <a:gd name="adj" fmla="val 7609"/>
            </a:avLst>
          </a:prstGeom>
          <a:solidFill>
            <a:srgbClr val="26307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5394960"/>
            <a:ext cx="4206240" cy="4206240"/>
          </a:xfrm>
          <a:prstGeom prst="roundRect">
            <a:avLst>
              <a:gd name="adj" fmla="val 7609"/>
            </a:avLst>
          </a:prstGeom>
          <a:solidFill>
            <a:srgbClr val="2E3980"/>
          </a:solidFill>
          <a:ln/>
        </p:spPr>
      </p:sp>
      <p:pic>
        <p:nvPicPr>
          <p:cNvPr id="4" name="Image 0" descr="icons_lay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858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MODELACIÓN Y SIMULACIÓN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269748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Simio Aerospace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58368" y="4526280"/>
            <a:ext cx="2011680" cy="0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754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carga de trabajo, capacidad y cuellos de botella en la línea de ensamblaje final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955280" y="1600200"/>
            <a:ext cx="3657600" cy="4572000"/>
          </a:xfrm>
          <a:prstGeom prst="roundRect">
            <a:avLst>
              <a:gd name="adj" fmla="val 3500"/>
            </a:avLst>
          </a:prstGeom>
          <a:solidFill>
            <a:srgbClr val="1E2761"/>
          </a:solidFill>
          <a:ln/>
        </p:spPr>
      </p:sp>
      <p:pic>
        <p:nvPicPr>
          <p:cNvPr id="5" name="Image 0" descr="icons_problema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0116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29260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8138160" y="4069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celdas en serie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línea final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503920" y="5074920"/>
            <a:ext cx="256032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5257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SA101 · SA102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38160" y="5623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con precedencias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tiempos distintos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1737360"/>
            <a:ext cx="310896" cy="310896"/>
          </a:xfrm>
          <a:prstGeom prst="ellipse">
            <a:avLst/>
          </a:prstGeom>
          <a:solidFill>
            <a:srgbClr val="F4F6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" y="1682496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de ensamblaje final está conformada por cinco celdas en serie.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816352"/>
            <a:ext cx="310896" cy="310896"/>
          </a:xfrm>
          <a:prstGeom prst="ellipse">
            <a:avLst/>
          </a:prstGeom>
          <a:solidFill>
            <a:srgbClr val="F4F6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2761488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productos SA101 y SA102 tienen tareas con precedencias y tiempos distintos.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3895344"/>
            <a:ext cx="310896" cy="310896"/>
          </a:xfrm>
          <a:prstGeom prst="ellipse">
            <a:avLst/>
          </a:prstGeom>
          <a:solidFill>
            <a:srgbClr val="F4F6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51560" y="384048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requiere analizar la carga de trabajo, capacidad y puntos de congestión.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4974336"/>
            <a:ext cx="310896" cy="310896"/>
          </a:xfrm>
          <a:prstGeom prst="ellipse">
            <a:avLst/>
          </a:prstGeom>
          <a:solidFill>
            <a:srgbClr val="F4F6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51560" y="4919472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es preparar la base para la validación y simulación de mejoras.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SIMIO AEROSPACE  |  FASE 1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ALCANCE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Fase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101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_objetivo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18541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el archivo de datos del proyecto.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0" y="1783080"/>
            <a:ext cx="33101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70832" y="20391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s_lay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6" y="218541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70832" y="2697480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Caracterizar tareas, secuencias, tiempos y recursos.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680960" y="1783080"/>
            <a:ext cx="33101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936992" y="20391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icons_kpi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218541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36992" y="2697480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Cuantificar la carga laboral de SA101 y SA102.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33101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04672" y="40507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icons_cuello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197096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4672" y="4709160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restricciones de capacidad y cuellos de botella.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114800" y="3794760"/>
            <a:ext cx="33101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370832" y="40507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icons_awar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7136" y="4197096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370832" y="4709160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la base técnica para la Fase 2.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SIMIO AEROSPACE  |  FASE 1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ENFOQUE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17320" y="3017520"/>
            <a:ext cx="9354312" cy="0"/>
          </a:xfrm>
          <a:prstGeom prst="line">
            <a:avLst/>
          </a:prstGeom>
          <a:noFill/>
          <a:ln w="38100">
            <a:solidFill>
              <a:srgbClr val="D7DC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" y="2779776"/>
            <a:ext cx="475488" cy="475488"/>
          </a:xfrm>
          <a:prstGeom prst="ellipse">
            <a:avLst/>
          </a:prstGeom>
          <a:solidFill>
            <a:srgbClr val="F299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9576" y="2779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502152"/>
            <a:ext cx="1554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triangulares por tarea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18154" y="2779776"/>
            <a:ext cx="475488" cy="47548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8154" y="2779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87218" y="160020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2978658" y="1673352"/>
            <a:ext cx="1554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media, varianza y desviación estándar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6732" y="2779776"/>
            <a:ext cx="475488" cy="47548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6732" y="2779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225796" y="342900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5317236" y="3502152"/>
            <a:ext cx="1554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por tarea, secuencia y celda de trabajo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95310" y="2779776"/>
            <a:ext cx="475488" cy="47548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95310" y="2779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64374" y="160020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7655814" y="1673352"/>
            <a:ext cx="1554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variabilidad y diferencias relevantes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533888" y="2779776"/>
            <a:ext cx="475488" cy="47548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33888" y="2779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902952" y="342900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/>
        </p:spPr>
      </p:sp>
      <p:sp>
        <p:nvSpPr>
          <p:cNvPr id="24" name="Text 22"/>
          <p:cNvSpPr/>
          <p:nvPr/>
        </p:nvSpPr>
        <p:spPr>
          <a:xfrm>
            <a:off x="9994392" y="3502152"/>
            <a:ext cx="1554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la carga esperada por producto y celda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SIMIO AEROSPACE  |  FASE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relevantes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391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399.603 h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30906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total SA101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7830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53712" y="20391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379.900 h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53712" y="30906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total SA102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1584" y="17830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330184" y="20391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-19.703 h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30184" y="30906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(SA102 vs SA101)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69664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-4.93%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77240" y="522122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general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25112" y="3913632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4553712" y="4169664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553712" y="522122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comparadas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01584" y="3913632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8330184" y="4169664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8330184" y="522122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diferencias &gt; 5%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SIMIO AEROSPACE  |  FASE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por celda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8580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1783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 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00684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8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SA102 reduce 15.35%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72400" y="2286000"/>
            <a:ext cx="39776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24048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 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006840" y="24048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casi igual; mayor carga total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0" y="2907792"/>
            <a:ext cx="39776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302666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 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006840" y="30266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SA102 aumenta 3.52%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0" y="3529584"/>
            <a:ext cx="39776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364845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 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006840" y="36484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8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SA102 reduce 9.17%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72400" y="4151376"/>
            <a:ext cx="39776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0" y="427024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 5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006840" y="4270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diferencia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772400" y="4773168"/>
            <a:ext cx="39776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SIMIO AEROSPACE  |  FASE 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HALLAZGO CRÍTICO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Cuello de botella preliminar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263070"/>
          </a:solidFill>
          <a:ln/>
        </p:spPr>
      </p:sp>
      <p:pic>
        <p:nvPicPr>
          <p:cNvPr id="5" name="Image 0" descr="icons_cuello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116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788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Celda 2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68680" y="3383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candidata a cuello de botella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68680" y="4069080"/>
            <a:ext cx="338328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25196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celda con mayor carga acumulada para ambos productos. La presión de trabajo se mantiene alta y requiere atención prioritaria.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0" y="1691640"/>
            <a:ext cx="3108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530352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SA101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0" y="22860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116.633 h</a:t>
            </a:r>
            <a:endParaRPr lang="en-US" sz="4000" dirty="0"/>
          </a:p>
        </p:txBody>
      </p:sp>
      <p:sp>
        <p:nvSpPr>
          <p:cNvPr id="13" name="Shape 10"/>
          <p:cNvSpPr/>
          <p:nvPr/>
        </p:nvSpPr>
        <p:spPr>
          <a:xfrm>
            <a:off x="8366760" y="1691640"/>
            <a:ext cx="3108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864108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SA102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41080" y="22860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116.657 h</a:t>
            </a:r>
            <a:endParaRPr lang="en-US" sz="4000" dirty="0"/>
          </a:p>
        </p:txBody>
      </p:sp>
      <p:sp>
        <p:nvSpPr>
          <p:cNvPr id="16" name="Shape 13"/>
          <p:cNvSpPr/>
          <p:nvPr/>
        </p:nvSpPr>
        <p:spPr>
          <a:xfrm>
            <a:off x="5029200" y="3977640"/>
            <a:ext cx="6537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5303520" y="41605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acumulada — ambos productos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303520" y="4709160"/>
            <a:ext cx="301721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Shape 16"/>
          <p:cNvSpPr/>
          <p:nvPr/>
        </p:nvSpPr>
        <p:spPr>
          <a:xfrm>
            <a:off x="8320730" y="4709160"/>
            <a:ext cx="3017830" cy="50292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20" name="Text 17"/>
          <p:cNvSpPr/>
          <p:nvPr/>
        </p:nvSpPr>
        <p:spPr>
          <a:xfrm>
            <a:off x="5303520" y="5321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SA101  116.633 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412480" y="5321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8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SA102  116.657 h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03520" y="56235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celda 2 concentra la mayor carga acumulada del sistema, con niveles casi idénticos entre productos — un indicador claro de saturación estructural, no específica de un producto.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SIMIO AEROSPACE  |  FASE 1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Tareas con mayor impacto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01887" y="1783080"/>
            <a:ext cx="0" cy="3977640"/>
          </a:xfrm>
          <a:prstGeom prst="line">
            <a:avLst/>
          </a:prstGeom>
          <a:noFill/>
          <a:ln w="15875">
            <a:solidFill>
              <a:srgbClr val="D7DC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Pilot Hole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01887" y="2089404"/>
            <a:ext cx="4964430" cy="438912"/>
          </a:xfrm>
          <a:prstGeom prst="roundRect">
            <a:avLst>
              <a:gd name="adj" fmla="val 10417"/>
            </a:avLst>
          </a:prstGeom>
          <a:solidFill>
            <a:srgbClr val="F2994A"/>
          </a:solidFill>
          <a:ln/>
        </p:spPr>
      </p:sp>
      <p:sp>
        <p:nvSpPr>
          <p:cNvPr id="7" name="Text 5"/>
          <p:cNvSpPr/>
          <p:nvPr/>
        </p:nvSpPr>
        <p:spPr>
          <a:xfrm>
            <a:off x="10476045" y="208940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+143.33%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Syncing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01887" y="3140964"/>
            <a:ext cx="2168583" cy="438912"/>
          </a:xfrm>
          <a:prstGeom prst="roundRect">
            <a:avLst>
              <a:gd name="adj" fmla="val 10417"/>
            </a:avLst>
          </a:prstGeom>
          <a:solidFill>
            <a:srgbClr val="F2994A"/>
          </a:solidFill>
          <a:ln/>
        </p:spPr>
      </p:sp>
      <p:sp>
        <p:nvSpPr>
          <p:cNvPr id="10" name="Text 8"/>
          <p:cNvSpPr/>
          <p:nvPr/>
        </p:nvSpPr>
        <p:spPr>
          <a:xfrm>
            <a:off x="7680198" y="314096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+62.61%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 Relief Bulkhead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70663" y="4192524"/>
            <a:ext cx="1831225" cy="438912"/>
          </a:xfrm>
          <a:prstGeom prst="roundRect">
            <a:avLst>
              <a:gd name="adj" fmla="val 10417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2363655" y="419252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-52.87%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0292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&amp; Close Clip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07230" y="5244084"/>
            <a:ext cx="894657" cy="438912"/>
          </a:xfrm>
          <a:prstGeom prst="roundRect">
            <a:avLst>
              <a:gd name="adj" fmla="val 10417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3300222" y="524408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-25.83%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diferencias son relevantes para la capacidad y el balance de la línea de ensamblaje.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SIMIO AEROSPACE  |  FASE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SIGUIENTE FASE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clave para Simio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476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esperada de trabajo por celda.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8620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697480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Horas-hombre requeridas para cada producto.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7764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611880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esperada de tareas paralelas.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4526280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de mecánicos por secuencia.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6052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5440680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disponible por turno, día y semana.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SIMIO AEROSPACE  |  FASE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SÍNTESIS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101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_kpi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18541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SA102 presenta menor carga total que SA101.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0" y="1783080"/>
            <a:ext cx="33101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70832" y="20391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s_awar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6" y="218541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70832" y="2697480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mejora general es del 4.93%.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680960" y="1783080"/>
            <a:ext cx="33101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936992" y="20391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icons_cuello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218541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36992" y="2697480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Celda 2 es el principal riesgo operativo.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33101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04672" y="40507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icons_lay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197096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4672" y="4709160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entrega la base técnica para validar mejoras en Simio.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114800" y="3794760"/>
            <a:ext cx="33101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370832" y="40507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icons_conclusione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7136" y="4197096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370832" y="4709160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documentación y resultados preliminares son clave para la Fase 2.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SIMIO AEROSPACE  |  FASE 1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SIGUIENTE FASE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 a implementar en Simio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476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Precedencias de tareas por celda.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8620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697480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estimados por tarea y producto.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7764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611880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 ocho mecánicos por celda.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4526280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trabajo por turno y por producto.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6052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5440680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 capacidad para validar cuellos de botella y mejora del flujo.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SIMIO AEROSPACE  |  FASE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667</Words>
  <Application>Microsoft Office PowerPoint</Application>
  <PresentationFormat>Panorámica</PresentationFormat>
  <Paragraphs>152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carlos catalan</cp:lastModifiedBy>
  <cp:revision>2</cp:revision>
  <dcterms:created xsi:type="dcterms:W3CDTF">2026-08-13T02:32:37Z</dcterms:created>
  <dcterms:modified xsi:type="dcterms:W3CDTF">2026-08-13T02:38:19Z</dcterms:modified>
</cp:coreProperties>
</file>